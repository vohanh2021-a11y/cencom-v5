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6F0FF"/>
                </a:solidFill>
                <a:latin typeface="Arial"/>
              </a:defRPr>
            </a:pPr>
            <a:r>
              <a:t>CÔNG TY VLXD MIỀN TRUNG — CENCOM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Arial"/>
              </a:defRPr>
            </a:pPr>
            <a:r>
              <a:t>GIÁO TRÌNH</a:t>
            </a:r>
            <a:br/>
            <a:r>
              <a:t>OPENCODE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6F0FF"/>
                </a:solidFill>
                <a:latin typeface="Arial"/>
              </a:defRPr>
            </a:pPr>
            <a:r>
              <a:t>Trợ lý soạn văn bản báo cáo</a:t>
            </a:r>
            <a:br/>
            <a:r>
              <a:t>cho Trưởng phòng ban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57600"/>
            <a:ext cx="2286000" cy="50800"/>
          </a:xfrm>
          <a:prstGeom prst="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10 chương  •  10.000 từ  •  20 hình minh hoạ  •  WORD + PPTX</a:t>
            </a:r>
            <a:br/>
            <a:r>
              <a:t>Dành cho: Kế toán  •  Kho  •  Xưởng  •  SC  •  Ban Giám đốc</a:t>
            </a:r>
            <a:br/>
            <a:r>
              <a:t>Phiên bản 1.0 — 08/2026 — Lưu hành nội bộ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0972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AI Agent  •  OpenCode</a:t>
            </a:r>
            <a:br/>
            <a:r>
              <a:t>Zen Free Tier  •  Skill</a:t>
            </a:r>
            <a:br/>
            <a:r>
              <a:t>Giọng văn  •  Trợ lý cá nhân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4754880"/>
            <a:ext cx="29260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4937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F2342"/>
                </a:solidFill>
                <a:latin typeface="Arial"/>
              </a:defRPr>
            </a:pPr>
            <a:r>
              <a:t>Biên soạn: Swarm Orchestrator</a:t>
            </a:r>
            <a:br/>
            <a:r>
              <a:t>Muse Spark — 10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E8D6"/>
                </a:solidFill>
                <a:latin typeface="Arial"/>
              </a:defRPr>
            </a:pPr>
            <a:r>
              <a:t>LỘ TRÌNH  •  10 CHƯƠNG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Agenda — Bạn sẽ học gì trong 90 phút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057400" cy="201168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234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2342"/>
                </a:solidFill>
                <a:latin typeface="Arial"/>
              </a:defRPr>
            </a:pPr>
            <a:r>
              <a:t>Xu thế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A1A1A"/>
                </a:solidFill>
                <a:latin typeface="Arial"/>
              </a:defRPr>
            </a:pPr>
            <a:r>
              <a:t>Chatbot →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63040"/>
            <a:ext cx="2057400" cy="201168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234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2342"/>
                </a:solidFill>
                <a:latin typeface="Arial"/>
              </a:defRPr>
            </a:pPr>
            <a:r>
              <a:t>Bản đồ Model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51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A1A1A"/>
                </a:solidFill>
                <a:latin typeface="Arial"/>
              </a:defRPr>
            </a:pPr>
            <a:r>
              <a:t>Chọn model cho báo cáo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9" y="1463040"/>
            <a:ext cx="2057400" cy="201168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234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2342"/>
                </a:solidFill>
                <a:latin typeface="Arial"/>
              </a:defRPr>
            </a:pPr>
            <a:r>
              <a:t>Làm việc cùng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651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A1A1A"/>
                </a:solidFill>
                <a:latin typeface="Arial"/>
              </a:defRPr>
            </a:pPr>
            <a:r>
              <a:t>Human-in-the-loop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463040"/>
            <a:ext cx="2057400" cy="201168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234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2342"/>
                </a:solidFill>
                <a:latin typeface="Arial"/>
              </a:defRPr>
            </a:pPr>
            <a:r>
              <a:t>Giới thiệu OpenCode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2651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A1A1A"/>
                </a:solidFill>
                <a:latin typeface="Arial"/>
              </a:defRPr>
            </a:pPr>
            <a:r>
              <a:t>TUI + LSP + Skills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19" y="1463040"/>
            <a:ext cx="2057400" cy="201168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399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2342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399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2342"/>
                </a:solidFill>
                <a:latin typeface="Arial"/>
              </a:defRPr>
            </a:pPr>
            <a:r>
              <a:t>Zen Free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399" y="2651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A1A1A"/>
                </a:solidFill>
                <a:latin typeface="Arial"/>
              </a:defRPr>
            </a:pPr>
            <a:r>
              <a:t>Dùng miễn phí hiệu quả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40480"/>
            <a:ext cx="2057400" cy="201168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233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2342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805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2342"/>
                </a:solidFill>
                <a:latin typeface="Arial"/>
              </a:defRPr>
            </a:pPr>
            <a:r>
              <a:t>Skill cá nhân hoá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A1A1A"/>
                </a:solidFill>
                <a:latin typeface="Arial"/>
              </a:defRPr>
            </a:pPr>
            <a:r>
              <a:t>Tải &amp; tạo skill riêng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3840480"/>
            <a:ext cx="2057400" cy="201168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40233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2342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4805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2342"/>
                </a:solidFill>
                <a:latin typeface="Arial"/>
              </a:defRPr>
            </a:pPr>
            <a:r>
              <a:t>Dạy AI đọc tài liệu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50292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A1A1A"/>
                </a:solidFill>
                <a:latin typeface="Arial"/>
              </a:defRPr>
            </a:pPr>
            <a:r>
              <a:t>RAG + Memory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79" y="3840480"/>
            <a:ext cx="2057400" cy="201168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59" y="40233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2342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59" y="44805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2342"/>
                </a:solidFill>
                <a:latin typeface="Arial"/>
              </a:defRPr>
            </a:pPr>
            <a:r>
              <a:t>Học giọng văn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59" y="50292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A1A1A"/>
                </a:solidFill>
                <a:latin typeface="Arial"/>
              </a:defRPr>
            </a:pPr>
            <a:r>
              <a:t>Skill viết lại báo cáo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3840480"/>
            <a:ext cx="2057400" cy="201168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80" y="40233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2342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80" y="44805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2342"/>
                </a:solidFill>
                <a:latin typeface="Arial"/>
              </a:defRPr>
            </a:pPr>
            <a:r>
              <a:t>Trợ lý cá nhân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80" y="50292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A1A1A"/>
                </a:solidFill>
                <a:latin typeface="Arial"/>
              </a:defRPr>
            </a:pPr>
            <a:r>
              <a:t>Persona theo phòng ban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19" y="3840480"/>
            <a:ext cx="2057400" cy="201168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399" y="40233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2342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399" y="44805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2342"/>
                </a:solidFill>
                <a:latin typeface="Arial"/>
              </a:defRPr>
            </a:pPr>
            <a:r>
              <a:t>Đề xuất Cencom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399" y="50292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A1A1A"/>
                </a:solidFill>
                <a:latin typeface="Arial"/>
              </a:defRPr>
            </a:pPr>
            <a:r>
              <a:t>Roadmap 6 tháng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E8D6"/>
                </a:solidFill>
                <a:latin typeface="Arial"/>
              </a:defRPr>
            </a:pPr>
            <a:r>
              <a:t>CHƯƠNG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Xu thế AI Agent 2024–2026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6F0FF"/>
                </a:solidFill>
                <a:latin typeface="Arial"/>
              </a:defRPr>
            </a:pPr>
            <a:r>
              <a:t>Từ chatbot tới đồng nghiệp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286000" cy="50800"/>
          </a:xfrm>
          <a:prstGeom prst="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Chatbot vs Agent — Bảng 6 tiêu chí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3 làn sóng: Tool-use → Multi-agent → Autonomous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15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Case VLXD: UNACEM / Taiheiyo / Conch — Số liệu McKinsey 2025</a:t>
            </a:r>
          </a:p>
        </p:txBody>
      </p:sp>
      <p:pic>
        <p:nvPicPr>
          <p:cNvPr id="15" name="Picture 14" descr="H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291840" cy="1847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E6F0FF"/>
                </a:solidFill>
                <a:latin typeface="Arial"/>
              </a:defRPr>
            </a:pPr>
            <a:r>
              <a:t>H01 — Minh hoạ chương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217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Cencom VLXD Miền Trung  •  cencom.vn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CHƯƠNG 01  •  Xu thế AI Agent 2024–2026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Chatbot vs Agent — Bảng 6 tiêu chí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3 làn sóng: Tool-use → Multi-agent → Autonomous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Case VLXD: UNACEM / Taiheiyo / Conch — Số liệu McKinsey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F2342"/>
                </a:solidFill>
                <a:latin typeface="Arial"/>
              </a:defRPr>
            </a:pPr>
            <a:r>
              <a:t>Bài tập 5 phút: Áp dụng ngay 1 ý trong slide này cho báo cáo tuần của bạn.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E8D6"/>
                </a:solidFill>
                <a:latin typeface="Arial"/>
              </a:defRPr>
            </a:pPr>
            <a:r>
              <a:t>CHƯƠNG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Bản đồ Model AI mới nhất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6F0FF"/>
                </a:solidFill>
                <a:latin typeface="Arial"/>
              </a:defRPr>
            </a:pPr>
            <a:r>
              <a:t>Chọn model nào cho báo cáo?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286000" cy="50800"/>
          </a:xfrm>
          <a:prstGeom prst="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6 họ model: GPT-5, Claude 4, Gemini 2.5, Grok-4, Qwen3, Llama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Bảng 7 cột: Context • Giá • Tiếng Việt • Reasoning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15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3 tier: Tiết kiệm / Cân bằng / Chất lượng cao</a:t>
            </a:r>
          </a:p>
        </p:txBody>
      </p:sp>
      <p:pic>
        <p:nvPicPr>
          <p:cNvPr id="15" name="Picture 14" descr="H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291840" cy="1847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E6F0FF"/>
                </a:solidFill>
                <a:latin typeface="Arial"/>
              </a:defRPr>
            </a:pPr>
            <a:r>
              <a:t>H03 — Minh hoạ chương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217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Cencom VLXD Miền Trung  •  cencom.vn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CHƯƠNG 02  •  Bản đồ Model AI mới nhất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6 họ model: GPT-5, Claude 4, Gemini 2.5, Grok-4, Qwen3, Llama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Bảng 7 cột: Context • Giá • Tiếng Việt •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3 tier: Tiết kiệm / Cân bằng / Chất lượng cao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F2342"/>
                </a:solidFill>
                <a:latin typeface="Arial"/>
              </a:defRPr>
            </a:pPr>
            <a:r>
              <a:t>Bài tập 5 phút: Áp dụng ngay 1 ý trong slide này cho báo cáo tuần của bạn.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E8D6"/>
                </a:solidFill>
                <a:latin typeface="Arial"/>
              </a:defRPr>
            </a:pPr>
            <a:r>
              <a:t>CHƯƠNG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Làm việc cùng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6F0FF"/>
                </a:solidFill>
                <a:latin typeface="Arial"/>
              </a:defRPr>
            </a:pPr>
            <a:r>
              <a:t>Human-in-the-loop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286000" cy="50800"/>
          </a:xfrm>
          <a:prstGeom prst="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Prompt → Workflow →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5 pattern: RAG • Memory • Tool • Planning • 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15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Checklist 5 bước giao việc + An toàn Xanh/Vàng/Đỏ</a:t>
            </a:r>
          </a:p>
        </p:txBody>
      </p:sp>
      <p:pic>
        <p:nvPicPr>
          <p:cNvPr id="15" name="Picture 14" descr="H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291840" cy="1847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E6F0FF"/>
                </a:solidFill>
                <a:latin typeface="Arial"/>
              </a:defRPr>
            </a:pPr>
            <a:r>
              <a:t>H05 — Minh hoạ chương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217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Cencom VLXD Miền Trung  •  cencom.vn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CHƯƠNG 03  •  Làm việc cùng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Prompt → Workflow →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5 pattern: RAG • Memory • Tool • Planning • Reflection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Checklist 5 bước giao việc + An toàn Xanh/Vàng/Đỏ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F2342"/>
                </a:solidFill>
                <a:latin typeface="Arial"/>
              </a:defRPr>
            </a:pPr>
            <a:r>
              <a:t>Bài tập 5 phút: Áp dụng ngay 1 ý trong slide này cho báo cáo tuần của bạn.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E8D6"/>
                </a:solidFill>
                <a:latin typeface="Arial"/>
              </a:defRPr>
            </a:pPr>
            <a:r>
              <a:t>CHƯƠNG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Giới thiệu OpenCode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6F0FF"/>
                </a:solidFill>
                <a:latin typeface="Arial"/>
              </a:defRPr>
            </a:pPr>
            <a:r>
              <a:t>VS Code kỷ nguyên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286000" cy="50800"/>
          </a:xfrm>
          <a:prstGeom prst="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TUI + LSP + Skills — MIT open-source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Kiến trúc 3 lớp • So sánh Cursor/Claude/Windsurf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15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Cài Windows 3 bước + 7 lệnh cơ bản</a:t>
            </a:r>
          </a:p>
        </p:txBody>
      </p:sp>
      <p:pic>
        <p:nvPicPr>
          <p:cNvPr id="15" name="Picture 14" descr="H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291840" cy="1847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E6F0FF"/>
                </a:solidFill>
                <a:latin typeface="Arial"/>
              </a:defRPr>
            </a:pPr>
            <a:r>
              <a:t>H07 — Minh hoạ chương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217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Cencom VLXD Miền Trung  •  cencom.vn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CHƯƠNG 04  •  Giới thiệu OpenCode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TUI + LSP + Skills — MIT open-source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Kiến trúc 3 lớp • So sánh Cursor/Claude/Windsurf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Cài Windows 3 bước + 7 lệnh cơ bản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F2342"/>
                </a:solidFill>
                <a:latin typeface="Arial"/>
              </a:defRPr>
            </a:pPr>
            <a:r>
              <a:t>Bài tập 5 phút: Áp dụng ngay 1 ý trong slide này cho báo cáo tuần của bạn.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E8D6"/>
                </a:solidFill>
                <a:latin typeface="Arial"/>
              </a:defRPr>
            </a:pPr>
            <a:r>
              <a:t>CHƯƠNG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Zen Free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6F0FF"/>
                </a:solidFill>
                <a:latin typeface="Arial"/>
              </a:defRPr>
            </a:pPr>
            <a:r>
              <a:t>Dùng miễn phí hiệu quả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286000" cy="50800"/>
          </a:xfrm>
          <a:prstGeom prst="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Quota Free vs Pro vs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3 bước đăng ký &amp; opencode.json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15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3 bài thực hành + 3 mẹo tiết kiệm quota</a:t>
            </a:r>
          </a:p>
        </p:txBody>
      </p:sp>
      <p:pic>
        <p:nvPicPr>
          <p:cNvPr id="15" name="Picture 14" descr="H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291840" cy="1847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E6F0FF"/>
                </a:solidFill>
                <a:latin typeface="Arial"/>
              </a:defRPr>
            </a:pPr>
            <a:r>
              <a:t>H09 — Minh hoạ chương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217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Cencom VLXD Miền Trung  •  cencom.vn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CHƯƠNG 05  •  Zen Free Tier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Quota Free vs Pro vs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3 bước đăng ký &amp; opencode.json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3 bài thực hành + 3 mẹo tiết kiệm quota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F2342"/>
                </a:solidFill>
                <a:latin typeface="Arial"/>
              </a:defRPr>
            </a:pPr>
            <a:r>
              <a:t>Bài tập 5 phút: Áp dụng ngay 1 ý trong slide này cho báo cáo tuần của bạn.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E8D6"/>
                </a:solidFill>
                <a:latin typeface="Arial"/>
              </a:defRPr>
            </a:pPr>
            <a:r>
              <a:t>CHƯƠNG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Skill cá nhân hoá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6F0FF"/>
                </a:solidFill>
                <a:latin typeface="Arial"/>
              </a:defRPr>
            </a:pPr>
            <a:r>
              <a:t>Tải &amp; tạo skill riêng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286000" cy="50800"/>
          </a:xfrm>
          <a:prstGeom prst="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GLOBAL vs PROJECT — ~/.config vs .opencode/skills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Anatomy SKILL.md: name + description Use when...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15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Tạo cencom-bao-cao-tuan — check-skills.js ERR=0</a:t>
            </a:r>
          </a:p>
        </p:txBody>
      </p:sp>
      <p:pic>
        <p:nvPicPr>
          <p:cNvPr id="15" name="Picture 14" descr="H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291840" cy="1847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E6F0FF"/>
                </a:solidFill>
                <a:latin typeface="Arial"/>
              </a:defRPr>
            </a:pPr>
            <a:r>
              <a:t>H11 — Minh hoạ chương 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217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Cencom VLXD Miền Trung  •  cencom.vn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CHƯƠNG 06  •  Skill cá nhân hoá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GLOBAL vs PROJECT — ~/.config vs .opencode/skills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Anatomy SKILL.md: name + description Use when...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Tạo cencom-bao-cao-tuan — check-skills.js ERR=0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F2342"/>
                </a:solidFill>
                <a:latin typeface="Arial"/>
              </a:defRPr>
            </a:pPr>
            <a:r>
              <a:t>Bài tập 5 phút: Áp dụng ngay 1 ý trong slide này cho báo cáo tuần của bạn.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E8D6"/>
                </a:solidFill>
                <a:latin typeface="Arial"/>
              </a:defRPr>
            </a:pPr>
            <a:r>
              <a:t>CHƯƠNG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Dạy AI đọc tài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6F0FF"/>
                </a:solidFill>
                <a:latin typeface="Arial"/>
              </a:defRPr>
            </a:pPr>
            <a:r>
              <a:t>RAG +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286000" cy="50800"/>
          </a:xfrm>
          <a:prstGeom prst="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docs/memory: 00-INDEX ≤30 • MEMORY ≤80 • CONTEXT ≤40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5 Iron Laws — Memory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15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webfetch/websearch + Demo QC206</a:t>
            </a:r>
          </a:p>
        </p:txBody>
      </p:sp>
      <p:pic>
        <p:nvPicPr>
          <p:cNvPr id="15" name="Picture 14" descr="H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291840" cy="1847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E6F0FF"/>
                </a:solidFill>
                <a:latin typeface="Arial"/>
              </a:defRPr>
            </a:pPr>
            <a:r>
              <a:t>H13 — Minh hoạ chương 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217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Cencom VLXD Miền Trung  •  cencom.vn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CHƯƠNG 07  •  Dạy AI đọc tài liệu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docs/memory: 00-INDEX ≤30 • MEMORY ≤80 • CONTEXT ≤40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5 Iron Laws — Memory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webfetch/websearch + Demo QC206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F2342"/>
                </a:solidFill>
                <a:latin typeface="Arial"/>
              </a:defRPr>
            </a:pPr>
            <a:r>
              <a:t>Bài tập 5 phút: Áp dụng ngay 1 ý trong slide này cho báo cáo tuần của bạn.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E8D6"/>
                </a:solidFill>
                <a:latin typeface="Arial"/>
              </a:defRPr>
            </a:pPr>
            <a:r>
              <a:t>CHƯƠNG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Học giọng văn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6F0FF"/>
                </a:solidFill>
                <a:latin typeface="Arial"/>
              </a:defRPr>
            </a:pPr>
            <a:r>
              <a:t>Skill viết lại báo cáo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286000" cy="50800"/>
          </a:xfrm>
          <a:prstGeom prst="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Thu thập 3–5 mẫu — Phiếu phân tích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Prompt few-shot — 18–25 từ/câu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15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Skill viet-lai-phong-cach-[Tên] + Test A/B</a:t>
            </a:r>
          </a:p>
        </p:txBody>
      </p:sp>
      <p:pic>
        <p:nvPicPr>
          <p:cNvPr id="15" name="Picture 14" descr="H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291840" cy="1847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E6F0FF"/>
                </a:solidFill>
                <a:latin typeface="Arial"/>
              </a:defRPr>
            </a:pPr>
            <a:r>
              <a:t>H15 — Minh hoạ chương 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217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Cencom VLXD Miền Trung  •  cencom.vn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CHƯƠNG 08  •  Học giọng văn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Thu thập 3–5 mẫu — Phiếu phân tích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Prompt few-shot — 18–25 từ/câu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Skill viet-lai-phong-cach-[Tên] + Test A/B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F2342"/>
                </a:solidFill>
                <a:latin typeface="Arial"/>
              </a:defRPr>
            </a:pPr>
            <a:r>
              <a:t>Bài tập 5 phút: Áp dụng ngay 1 ý trong slide này cho báo cáo tuần của bạn.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E8D6"/>
                </a:solidFill>
                <a:latin typeface="Arial"/>
              </a:defRPr>
            </a:pPr>
            <a:r>
              <a:t>CHƯƠNG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Trợ lý cá nhân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6F0FF"/>
                </a:solidFill>
                <a:latin typeface="Arial"/>
              </a:defRPr>
            </a:pPr>
            <a:r>
              <a:t>Persona theo phòng ban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286000" cy="50800"/>
          </a:xfrm>
          <a:prstGeom prst="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4 persona: Kế toán / Kho / Xưởng / SC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Roadmap 30-60-90 ngày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15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KPI: Thời gian • Chất lượng • Quota</a:t>
            </a:r>
          </a:p>
        </p:txBody>
      </p:sp>
      <p:pic>
        <p:nvPicPr>
          <p:cNvPr id="15" name="Picture 14" descr="H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291840" cy="1847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E6F0FF"/>
                </a:solidFill>
                <a:latin typeface="Arial"/>
              </a:defRPr>
            </a:pPr>
            <a:r>
              <a:t>H17 — Minh hoạ chương 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217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Cencom VLXD Miền Trung  •  cencom.vn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CHƯƠNG 09  •  Trợ lý cá nhân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4 persona: Kế toán / Kho / Xưởng / SC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Roadmap 30-60-90 ngày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KPI: Thời gian • Chất lượng • Quota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F2342"/>
                </a:solidFill>
                <a:latin typeface="Arial"/>
              </a:defRPr>
            </a:pPr>
            <a:r>
              <a:t>Bài tập 5 phút: Áp dụng ngay 1 ý trong slide này cho báo cáo tuần của bạn.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E8D6"/>
                </a:solidFill>
                <a:latin typeface="Arial"/>
              </a:defRPr>
            </a:pPr>
            <a:r>
              <a:t>CHƯƠNG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Đề xuất Cencom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6F0FF"/>
                </a:solidFill>
                <a:latin typeface="Arial"/>
              </a:defRPr>
            </a:pPr>
            <a:r>
              <a:t>Roadmap 6 tháng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286000" cy="50800"/>
          </a:xfrm>
          <a:prstGeom prst="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Thí điểm 2 phòng → Mở rộng → Chuẩn hoá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Governance: OWASP • Phân quyền •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159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234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Chi phí Zen Pro &amp; Đào tạo</a:t>
            </a:r>
          </a:p>
        </p:txBody>
      </p:sp>
      <p:pic>
        <p:nvPicPr>
          <p:cNvPr id="15" name="Picture 14" descr="H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291840" cy="1847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E6F0FF"/>
                </a:solidFill>
                <a:latin typeface="Arial"/>
              </a:defRPr>
            </a:pPr>
            <a:r>
              <a:t>H19 — Minh hoạ chương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217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6B7280"/>
                </a:solidFill>
                <a:latin typeface="Arial"/>
              </a:defRPr>
            </a:pPr>
            <a:r>
              <a:t>Cencom VLXD Miền Trung  •  cencom.vn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CHƯƠNG 10  •  Đề xuất Cencom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Thí điểm 2 phòng → Mở rộng → Chuẩn hoá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Governance: OWASP • Phân quyền •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1887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 w="15240"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Chi phí Zen Pro &amp; Đào tạo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F2342"/>
                </a:solidFill>
                <a:latin typeface="Arial"/>
              </a:defRPr>
            </a:pPr>
            <a:r>
              <a:t>Bài tập 5 phút: Áp dụng ngay 1 ý trong slide này cho báo cáo tuần của bạn.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Arial"/>
              </a:defRPr>
            </a:pPr>
            <a:r>
              <a:t>BẠN ĐÃ SẴN SÀNG — 30 NGÀY TỚI LÀM GÌ?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2342"/>
                </a:solidFill>
                <a:latin typeface="Arial"/>
              </a:defRPr>
            </a:pPr>
            <a:r>
              <a:t>Tuần 1–2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Cài OpenCode + Zen Free</a:t>
            </a:r>
            <a:br/>
            <a:r>
              <a:t>Làm 3 bài thực hành C05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2342"/>
                </a:solidFill>
                <a:latin typeface="Arial"/>
              </a:defRPr>
            </a:pPr>
            <a:r>
              <a:t>Tuần 3–4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688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Tạo skill đầu tiên</a:t>
            </a:r>
            <a:br/>
            <a:r>
              <a:t>cencom-bao-cao-tuan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2342"/>
                </a:solidFill>
                <a:latin typeface="Arial"/>
              </a:defRPr>
            </a:pPr>
            <a:r>
              <a:t>Tháng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Dạy AI giọng văn</a:t>
            </a:r>
            <a:br/>
            <a:r>
              <a:t>+ RAG tài liệu nội bộ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64592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2342"/>
                </a:solidFill>
                <a:latin typeface="Arial"/>
              </a:defRPr>
            </a:pPr>
            <a:r>
              <a:t>Tháng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46888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Trợ lý cá nhân</a:t>
            </a:r>
            <a:br/>
            <a:r>
              <a:t>đo KPI giảm 50% thời gian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E8D6"/>
                </a:solidFill>
                <a:latin typeface="Arial"/>
              </a:defRPr>
            </a:pPr>
            <a:r>
              <a:t>Template prompt trang 54 WORD  •  Hỏi thêm: /skill cencom-bao-cao-tuan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Q&amp;A  •  Hỏi — Đáp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42"/>
                </a:solidFill>
                <a:latin typeface="Arial"/>
              </a:defRPr>
            </a:pPr>
            <a:r>
              <a:t>CÂU HỎI THƯỜNG GẶP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Q: Dùng Zen Free có lộ dữ liệu không?  → A: Dùng BYOK + Human-in-the-loop, tài chính luôn duyệt tay.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Q: Không rành IT có dùng được?  → A: Có — 3 bước cài Windows, làm theo C04–C05 là chạy.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7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Q: Khi nào cần nâng Pro?  → A: Khi vượt quota free 2 tuần liên tiếp (C05).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t>Q: Skill ai duyệt?  → A: Trưởng phòng tạo PROJECT skill, IT duyệt GLOBAL (C06).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86400"/>
            <a:ext cx="10972800" cy="127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B7280"/>
                </a:solidFill>
                <a:latin typeface="Arial"/>
              </a:defRPr>
            </a:pPr>
            <a:r>
              <a:t>Liên hệ: Ban Chuyển đổi số Cencom  •  cencom.vn  •  Lưu hành nội bộ 08/2026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